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041859f8-a404-8cff-fbd6-2ca49799c6a1}">
          <p14:sldIdLst>
            <p14:sldId id="256"/>
            <p14:sldId id="257"/>
            <p14:sldId id="258"/>
            <p14:sldId id="259"/>
            <p14:sldId id="260"/>
          </p14:sldIdLst>
        </p14:section>
        <p14:section name="Walkthrough" id="{ee717790-5187-881e-7163-9722e7642493}">
          <p14:sldIdLst>
            <p14:sldId id="261"/>
            <p14:sldId id="262"/>
            <p14:sldId id="263"/>
            <p14:sldId id="264"/>
          </p14:sldIdLst>
        </p14:section>
        <p14:section name="Analysis" id="{4c74bf26-6276-981e-8c60-517bc7bc5897}">
          <p14:sldIdLst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question: is the direct road always the fastest?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">
    <p:bg>
      <p:bgPr>
        <a:solidFill>
          <a:srgbClr val="1A4F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bg1"/>
                </a:solidFill>
              </a:rPr>
              <a:t>FLOYD–WARSHALL  ·  DAA MACRO PROJECT  ·  UNIT III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tx1"/>
                </a:solidFill>
              </a:rPr>
              <a:t>FLOYD–WARSHALL  ·  DAA MACRO PROJECT  ·  UNIT III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A4F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5800" dirty="0"/>
          </a:p>
        </p:txBody>
      </p:sp>
      <p:sp>
        <p:nvSpPr>
          <p:cNvPr id="3" name="Text 0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bg1"/>
                </a:solidFill>
              </a:rPr>
              <a:t>FLOYD–WARSHALL  ·  DAA MACRO PROJECT  ·  UNIT III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chemeClr val="bg1"/>
                </a:solidFill>
              </a:rPr>
              <a:t>SHORTEST PATHS</a:t>
            </a:r>
            <a:endParaRPr lang="en-US" sz="5800" dirty="0"/>
          </a:p>
        </p:txBody>
      </p:sp>
      <p:sp>
        <p:nvSpPr>
          <p:cNvPr id="3" name="Script accent"/>
          <p:cNvSpPr txBox="1"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Pinyon Script" pitchFamily="34" charset="0"/>
                <a:ea typeface="Pinyon Script" pitchFamily="34" charset="-122"/>
                <a:cs typeface="Pinyon Script" pitchFamily="34" charset="-120"/>
              </a:rPr>
              <a:t>Floyd–Warshall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dynamic programming walkthrough of all-pairs shortest paths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IF THE DIRECT PATH ISN'T THE SHORTEST?</a:t>
            </a:r>
            <a:endParaRPr lang="en-US" sz="3000" dirty="0"/>
          </a:p>
        </p:txBody>
      </p:sp>
      <p:sp>
        <p:nvSpPr>
          <p:cNvPr id="3" name="Script accent"/>
          <p:cNvSpPr txBox="1"/>
          <p:nvPr/>
        </p:nvSpPr>
        <p:spPr>
          <a:xfrm>
            <a:off x="548640" y="1188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Pinyon Script" pitchFamily="34" charset="0"/>
                <a:ea typeface="Pinyon Script" pitchFamily="34" charset="-122"/>
                <a:cs typeface="Pinyon Script" pitchFamily="34" charset="-120"/>
              </a:rPr>
              <a:t>a simple question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548640" y="2011680"/>
            <a:ext cx="3749040" cy="14630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 → C = 7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60243"/>
            <a:ext cx="338328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direct road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4846320" y="2011680"/>
            <a:ext cx="3749040" cy="146304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2148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 → B → C = 5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860243"/>
            <a:ext cx="338328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through B: 3 + 2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Floyd–Warshall answers this for every pair of vertices, systematically.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THE PROBLEM: ALL PAIRS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Given a weighted graph with V vertices, find the shortest distance(i, j) for every pair of vertices i and j.</a:t>
            </a:r>
            <a:endParaRPr lang="en-US" sz="1800" dirty="0"/>
          </a:p>
        </p:txBody>
      </p:sp>
      <p:sp>
        <p:nvSpPr>
          <p:cNvPr id="4" name="Card"/>
          <p:cNvSpPr/>
          <p:nvPr/>
        </p:nvSpPr>
        <p:spPr>
          <a:xfrm>
            <a:off x="4846320" y="1280160"/>
            <a:ext cx="3749040" cy="8686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0" y="1417320"/>
            <a:ext cx="3383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V × V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783994"/>
            <a:ext cx="33832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distances to store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4846320" y="2286000"/>
            <a:ext cx="3749040" cy="8686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2423160"/>
            <a:ext cx="3383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every i → j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789834"/>
            <a:ext cx="33832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 just one source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846320" y="3291840"/>
            <a:ext cx="3749040" cy="86868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3429000"/>
            <a:ext cx="3383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one idea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3795674"/>
            <a:ext cx="33832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try going through k</a:t>
            </a:r>
            <a:endParaRPr lang="en-US" sz="1200" dirty="0"/>
          </a:p>
        </p:txBody>
      </p:sp>
      <p:sp>
        <p:nvSpPr>
          <p:cNvPr id="13" name="Script accent"/>
          <p:cNvSpPr txBox="1"/>
          <p:nvPr/>
        </p:nvSpPr>
        <p:spPr>
          <a:xfrm>
            <a:off x="548640" y="3749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Pinyon Script" pitchFamily="34" charset="0"/>
                <a:ea typeface="Pinyon Script" pitchFamily="34" charset="-122"/>
                <a:cs typeface="Pinyon Script" pitchFamily="34" charset="-120"/>
              </a:rPr>
              <a:t>a matrix of answers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OUR EXAMPLE GRAPH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4 vertices: A, B, C, D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5 weighted edges, each usable in both directions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No A–D edge, so A → D = ∞ and D → A = ∞</a:t>
            </a:r>
            <a:endParaRPr lang="en-US" sz="1600" dirty="0"/>
          </a:p>
        </p:txBody>
      </p:sp>
      <p:sp>
        <p:nvSpPr>
          <p:cNvPr id="4" name="Edge AB"/>
          <p:cNvSpPr/>
          <p:nvPr/>
        </p:nvSpPr>
        <p:spPr>
          <a:xfrm flipV="1">
            <a:off x="5577840" y="1691640"/>
            <a:ext cx="1325880" cy="1143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5" name="Edge AC"/>
          <p:cNvSpPr/>
          <p:nvPr/>
        </p:nvSpPr>
        <p:spPr>
          <a:xfrm>
            <a:off x="5577840" y="2834640"/>
            <a:ext cx="1325880" cy="1143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6" name="Edge BC"/>
          <p:cNvSpPr/>
          <p:nvPr/>
        </p:nvSpPr>
        <p:spPr>
          <a:xfrm>
            <a:off x="6903720" y="1691640"/>
            <a:ext cx="0" cy="228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7" name="Edge BD"/>
          <p:cNvSpPr/>
          <p:nvPr/>
        </p:nvSpPr>
        <p:spPr>
          <a:xfrm>
            <a:off x="6903720" y="1691640"/>
            <a:ext cx="1325880" cy="1143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Edge CD"/>
          <p:cNvSpPr/>
          <p:nvPr/>
        </p:nvSpPr>
        <p:spPr>
          <a:xfrm flipV="1">
            <a:off x="6903720" y="2834640"/>
            <a:ext cx="1325880" cy="1143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9" name="Weight AB"/>
          <p:cNvSpPr txBox="1"/>
          <p:nvPr/>
        </p:nvSpPr>
        <p:spPr>
          <a:xfrm>
            <a:off x="6057900" y="2125980"/>
            <a:ext cx="3657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0" name="Weight AC"/>
          <p:cNvSpPr txBox="1"/>
          <p:nvPr/>
        </p:nvSpPr>
        <p:spPr>
          <a:xfrm>
            <a:off x="6057900" y="3268980"/>
            <a:ext cx="3657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11" name="Weight BC"/>
          <p:cNvSpPr txBox="1"/>
          <p:nvPr/>
        </p:nvSpPr>
        <p:spPr>
          <a:xfrm>
            <a:off x="6720840" y="2697480"/>
            <a:ext cx="3657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Weight BD"/>
          <p:cNvSpPr txBox="1"/>
          <p:nvPr/>
        </p:nvSpPr>
        <p:spPr>
          <a:xfrm>
            <a:off x="7383780" y="2125980"/>
            <a:ext cx="3657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Weight CD"/>
          <p:cNvSpPr txBox="1"/>
          <p:nvPr/>
        </p:nvSpPr>
        <p:spPr>
          <a:xfrm>
            <a:off x="7383780" y="3268980"/>
            <a:ext cx="3657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Vertex A"/>
          <p:cNvSpPr/>
          <p:nvPr/>
        </p:nvSpPr>
        <p:spPr>
          <a:xfrm>
            <a:off x="5303520" y="2560320"/>
            <a:ext cx="548640" cy="54864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15" name="Vertex B"/>
          <p:cNvSpPr/>
          <p:nvPr/>
        </p:nvSpPr>
        <p:spPr>
          <a:xfrm>
            <a:off x="6629400" y="1417320"/>
            <a:ext cx="548640" cy="54864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6" name="Vertex C"/>
          <p:cNvSpPr/>
          <p:nvPr/>
        </p:nvSpPr>
        <p:spPr>
          <a:xfrm>
            <a:off x="6629400" y="3703320"/>
            <a:ext cx="548640" cy="54864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Vertex D"/>
          <p:cNvSpPr/>
          <p:nvPr/>
        </p:nvSpPr>
        <p:spPr>
          <a:xfrm>
            <a:off x="7955280" y="2560320"/>
            <a:ext cx="548640" cy="54864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STEP 0: THE INITIAL MATRIX</a:t>
            </a:r>
            <a:endParaRPr lang="en-US" sz="3000" dirty="0"/>
          </a:p>
        </p:txBody>
      </p:sp>
      <p:graphicFrame>
        <p:nvGraphicFramePr>
          <p:cNvPr id="6" name="Distance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3657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937760" y="14630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1  Distance to itself is 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2  Direct edge: use its weight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3  No direct edge: use ∞</a:t>
            </a:r>
            <a:endParaRPr lang="en-US" sz="1600" dirty="0"/>
          </a:p>
        </p:txBody>
      </p:sp>
      <p:sp>
        <p:nvSpPr>
          <p:cNvPr id="5" name="Script accent"/>
          <p:cNvSpPr txBox="1"/>
          <p:nvPr/>
        </p:nvSpPr>
        <p:spPr>
          <a:xfrm>
            <a:off x="4937760" y="3291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  <a:latin typeface="Pinyon Script" pitchFamily="34" charset="0"/>
                <a:ea typeface="Pinyon Script" pitchFamily="34" charset="-122"/>
                <a:cs typeface="Pinyon Script" pitchFamily="34" charset="-120"/>
              </a:rPr>
              <a:t>only direct distances, for now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KEY IDEA</a:t>
            </a:r>
            <a:endParaRPr lang="en-US" sz="3000" dirty="0"/>
          </a:p>
        </p:txBody>
      </p:sp>
      <p:sp>
        <p:nvSpPr>
          <p:cNvPr id="3" name="Formula panel"/>
          <p:cNvSpPr/>
          <p:nvPr/>
        </p:nvSpPr>
        <p:spPr>
          <a:xfrm>
            <a:off x="548640" y="1280160"/>
            <a:ext cx="8046720" cy="118872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dist[i][j] = min( dist[i][j],  dist[i][k] + dist[k][j] )</a:t>
            </a:r>
            <a:endParaRPr lang="en-US" sz="2200" dirty="0"/>
          </a:p>
        </p:txBody>
      </p:sp>
      <p:sp>
        <p:nvSpPr>
          <p:cNvPr id="5" name="Card"/>
          <p:cNvSpPr/>
          <p:nvPr/>
        </p:nvSpPr>
        <p:spPr>
          <a:xfrm>
            <a:off x="548640" y="2743200"/>
            <a:ext cx="256032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26587"/>
            <a:ext cx="21945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source vertex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3291840" y="2743200"/>
            <a:ext cx="256032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j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326587"/>
            <a:ext cx="21945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destination vertex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6035040" y="2743200"/>
            <a:ext cx="2560320" cy="100584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k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326587"/>
            <a:ext cx="21945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intermediate vertex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Three nested loops: for k, for i, for j. The outer loop adds one allowed intermediate vertex at a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k = A, THEN k = 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k = A: no pair improves (B → C: 3 + 7 = 10 &gt; 2).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k = B improves four entries: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→ C: 3 + 2 = 5 &lt; 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→ D: 3 + 4 = 7 &lt; ∞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 → A: 2 + 3 = 5 &lt; 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 → A: 4 + 3 = 7 &lt; ∞</a:t>
            </a:r>
            <a:endParaRPr lang="en-US" sz="1500" dirty="0"/>
          </a:p>
        </p:txBody>
      </p:sp>
      <p:graphicFrame>
        <p:nvGraphicFramePr>
          <p:cNvPr id="8" name="Distance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71600"/>
          <a:ext cx="3657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 = C, THEN k = 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k = C improves four entries: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→ D: 5 + 1 = 6 &lt; 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 → A: 1 + 5 = 6 &lt; 7 (uses the updated C → A)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 → D: 2 + 1 = 3 &lt; 4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 → B: 1 + 2 = 3 &lt; 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 = D: nothing improves, so we are done.</a:t>
            </a:r>
            <a:endParaRPr lang="en-US" sz="1500" dirty="0"/>
          </a:p>
        </p:txBody>
      </p:sp>
      <p:graphicFrame>
        <p:nvGraphicFramePr>
          <p:cNvPr id="9" name="Distance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71600"/>
          <a:ext cx="3657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THE FINAL MATRIX</a:t>
            </a:r>
            <a:endParaRPr lang="en-US" sz="3000" dirty="0"/>
          </a:p>
        </p:txBody>
      </p:sp>
      <p:graphicFrame>
        <p:nvGraphicFramePr>
          <p:cNvPr id="10" name="Distance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3657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9377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A → C = 5 via B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A → D = 6 via B, C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B → D = 3 via C</a:t>
            </a:r>
            <a:endParaRPr lang="en-US" sz="1800" dirty="0"/>
          </a:p>
        </p:txBody>
      </p:sp>
      <p:sp>
        <p:nvSpPr>
          <p:cNvPr id="5" name="Script accent"/>
          <p:cNvSpPr txBox="1"/>
          <p:nvPr/>
        </p:nvSpPr>
        <p:spPr>
          <a:xfrm>
            <a:off x="4937760" y="3200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  <a:latin typeface="Pinyon Script" pitchFamily="34" charset="0"/>
                <a:ea typeface="Pinyon Script" pitchFamily="34" charset="-122"/>
                <a:cs typeface="Pinyon Script" pitchFamily="34" charset="-120"/>
              </a:rPr>
              <a:t>the shortest route is rarely the direct one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COMPLETE ALGORITHM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548640" y="1280160"/>
            <a:ext cx="4754880" cy="30175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FLOYD-WARSHALL(dist)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k = 0 to V-1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= 0 to V-1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j = 0 to V-1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dist[i][j] = min(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dist[i][j],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dist[i][k] + dist[k][j])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dist</a:t>
            </a:r>
            <a:endParaRPr lang="en-US" sz="1300" dirty="0"/>
          </a:p>
        </p:txBody>
      </p:sp>
      <p:sp>
        <p:nvSpPr>
          <p:cNvPr id="5" name="Card"/>
          <p:cNvSpPr/>
          <p:nvPr/>
        </p:nvSpPr>
        <p:spPr>
          <a:xfrm>
            <a:off x="5669280" y="1280160"/>
            <a:ext cx="2926080" cy="1371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4173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O(V³)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207568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time: three nested loops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5669280" y="2926080"/>
            <a:ext cx="2926080" cy="13716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3063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O(V²)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72160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space: one V × V matrix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WHY IT IS DYNAMIC PROGRAMMING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D[k][i][j] = min( D[k-1][i][j],  D[k-1][i][k] + D[k-1][k][j] 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D[k][i][j]: shortest i → j when only the first k vertices may be intermediates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Each stage builds on answers already computed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The 3D table collapses into one 2D matrix updated in place</a:t>
            </a:r>
            <a:endParaRPr lang="en-US" sz="1600" dirty="0"/>
          </a:p>
        </p:txBody>
      </p:sp>
      <p:sp>
        <p:nvSpPr>
          <p:cNvPr id="5" name="Script accent"/>
          <p:cNvSpPr txBox="1"/>
          <p:nvPr/>
        </p:nvSpPr>
        <p:spPr>
          <a:xfrm>
            <a:off x="54864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Pinyon Script" pitchFamily="34" charset="0"/>
                <a:ea typeface="Pinyon Script" pitchFamily="34" charset="-122"/>
                <a:cs typeface="Pinyon Script" pitchFamily="34" charset="-120"/>
              </a:rPr>
              <a:t>build bigger answers from smaller ones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CHOOSING THE RIGHT TOOL</a:t>
            </a:r>
            <a:endParaRPr lang="en-US" sz="3000" dirty="0"/>
          </a:p>
        </p:txBody>
      </p:sp>
      <p:graphicFrame>
        <p:nvGraphicFramePr>
          <p:cNvPr id="13" name="Algorithm 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120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Algorithm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Main purpose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BFS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Unweighted graphs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Dijkstra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One source, non-negative weights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Bellman–Ford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One source, negative edges allowed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Floyd–Warshall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Every pair of vertices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B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Need paths from one source? Think Dijkstra. From every source to every destination? Floyd–Warshall.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NEGATIVE EDGES AND EDGE CASES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Negative edge weights are allowed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Negative cycle: A → B → C → A = 2 + (−5) + 1 = −2, so no shortest path exists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Detection: dist[i][i] &lt; 0 means i lies on a negative cycle</a:t>
            </a:r>
            <a:endParaRPr lang="en-US" sz="1500" dirty="0"/>
          </a:p>
        </p:txBody>
      </p:sp>
      <p:sp>
        <p:nvSpPr>
          <p:cNvPr id="4" name="Card"/>
          <p:cNvSpPr/>
          <p:nvPr/>
        </p:nvSpPr>
        <p:spPr>
          <a:xfrm>
            <a:off x="4937760" y="1371600"/>
            <a:ext cx="3657600" cy="292608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0" y="15087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Edge cases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3068726"/>
            <a:ext cx="3291840" cy="1053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dist[i][i] = 0.  No edge means ∞, never 0.  Disconnected vertices stay ∞.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CAN I MAKE i → j SHORTER BY GOING THROUGH k?</a:t>
            </a:r>
            <a:endParaRPr lang="en-US" sz="3000" dirty="0"/>
          </a:p>
        </p:txBody>
      </p:sp>
      <p:sp>
        <p:nvSpPr>
          <p:cNvPr id="3" name="Script accent"/>
          <p:cNvSpPr txBox="1"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accent2"/>
                </a:solidFill>
                <a:latin typeface="Pinyon Script" pitchFamily="34" charset="0"/>
                <a:ea typeface="Pinyon Script" pitchFamily="34" charset="-122"/>
                <a:cs typeface="Pinyon Script" pitchFamily="34" charset="-120"/>
              </a:rPr>
              <a:t>the whole algorithm in one question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If yes, update dist[i][j]. If no, leave it. Repeat for every k, every i, every j.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 Cobalt">
  <a:themeElements>
    <a:clrScheme name="Editorial Cobalt">
      <a:dk1>
        <a:srgbClr val="0B0B0C"/>
      </a:dk1>
      <a:lt1>
        <a:srgbClr val="FFFFFF"/>
      </a:lt1>
      <a:dk2>
        <a:srgbClr val="1A4FA3"/>
      </a:dk2>
      <a:lt2>
        <a:srgbClr val="F2EFE8"/>
      </a:lt2>
      <a:accent1>
        <a:srgbClr val="1A4FA3"/>
      </a:accent1>
      <a:accent2>
        <a:srgbClr val="35B6E8"/>
      </a:accent2>
      <a:accent3>
        <a:srgbClr val="0B0B0C"/>
      </a:accent3>
      <a:accent4>
        <a:srgbClr val="8FB0E3"/>
      </a:accent4>
      <a:accent5>
        <a:srgbClr val="D9D4C7"/>
      </a:accent5>
      <a:accent6>
        <a:srgbClr val="FFFFFF"/>
      </a:accent6>
      <a:hlink>
        <a:srgbClr val="35B6E8"/>
      </a:hlink>
      <a:folHlink>
        <a:srgbClr val="8FB0E3"/>
      </a:folHlink>
    </a:clrScheme>
    <a:fontScheme name="Editorial Cobalt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Floyd–Warshall: All-Pairs Shortest Paths</dc:title>
  <dc:subject>PptxGenJS Presentation</dc:subject>
  <dc:creator>PptxGenJS</dc:creator>
  <cp:lastModifiedBy>PptxGenJS</cp:lastModifiedBy>
  <cp:revision>1</cp:revision>
  <dcterms:created xsi:type="dcterms:W3CDTF">2026-10-03T09:31:14Z</dcterms:created>
  <dcterms:modified xsi:type="dcterms:W3CDTF">2026-10-03T09:31:14Z</dcterms:modified>
</cp:coreProperties>
</file>